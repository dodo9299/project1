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BikeRentalDemandProject\BikeRentalDemandAnalysisProjec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[BikeRentalDemandAnalysisProject.xlsx]AveargeRentalsByHour!PivotTable1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</a:t>
            </a:r>
            <a:r>
              <a:rPr lang="en-IN" baseline="0"/>
              <a:t> Rentals by Hour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AveargeRentalsByHour!$B$3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AveargeRentalsByHour!$A$4:$A$29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(blank)</c:v>
                </c:pt>
              </c:strCache>
            </c:strRef>
          </c:cat>
          <c:val>
            <c:numRef>
              <c:f>AveargeRentalsByHour!$B$4:$B$29</c:f>
              <c:numCache>
                <c:formatCode>General</c:formatCode>
                <c:ptCount val="25"/>
                <c:pt idx="0">
                  <c:v>16.348837209302324</c:v>
                </c:pt>
                <c:pt idx="1">
                  <c:v>10.697674418604651</c:v>
                </c:pt>
                <c:pt idx="2">
                  <c:v>7.1707317073170733</c:v>
                </c:pt>
                <c:pt idx="3">
                  <c:v>4.870967741935484</c:v>
                </c:pt>
                <c:pt idx="4">
                  <c:v>2.15625</c:v>
                </c:pt>
                <c:pt idx="5">
                  <c:v>4.2051282051282053</c:v>
                </c:pt>
                <c:pt idx="6">
                  <c:v>19.571428571428573</c:v>
                </c:pt>
                <c:pt idx="7">
                  <c:v>54.395348837209305</c:v>
                </c:pt>
                <c:pt idx="8">
                  <c:v>128.28571428571428</c:v>
                </c:pt>
                <c:pt idx="9">
                  <c:v>87.428571428571431</c:v>
                </c:pt>
                <c:pt idx="10">
                  <c:v>53.642857142857146</c:v>
                </c:pt>
                <c:pt idx="11">
                  <c:v>59.38095238095238</c:v>
                </c:pt>
                <c:pt idx="12">
                  <c:v>76.348837209302332</c:v>
                </c:pt>
                <c:pt idx="13">
                  <c:v>78.511627906976742</c:v>
                </c:pt>
                <c:pt idx="14">
                  <c:v>74.418604651162795</c:v>
                </c:pt>
                <c:pt idx="15">
                  <c:v>77.95348837209302</c:v>
                </c:pt>
                <c:pt idx="16">
                  <c:v>89.272727272727266</c:v>
                </c:pt>
                <c:pt idx="17">
                  <c:v>140.20454545454547</c:v>
                </c:pt>
                <c:pt idx="18">
                  <c:v>122.86046511627907</c:v>
                </c:pt>
                <c:pt idx="19">
                  <c:v>85.139534883720927</c:v>
                </c:pt>
                <c:pt idx="20">
                  <c:v>61.767441860465119</c:v>
                </c:pt>
                <c:pt idx="21">
                  <c:v>46.418604651162788</c:v>
                </c:pt>
                <c:pt idx="22">
                  <c:v>35.069767441860463</c:v>
                </c:pt>
                <c:pt idx="23">
                  <c:v>25.186046511627907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49-4D39-97BD-A474EF1B2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4982287"/>
        <c:axId val="1927752895"/>
      </c:lineChart>
      <c:catAx>
        <c:axId val="19349822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Hour</a:t>
                </a:r>
                <a:r>
                  <a:rPr lang="en-IN" baseline="0"/>
                  <a:t> Of Day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752895"/>
        <c:crosses val="autoZero"/>
        <c:auto val="1"/>
        <c:lblAlgn val="ctr"/>
        <c:lblOffset val="100"/>
        <c:noMultiLvlLbl val="0"/>
      </c:catAx>
      <c:valAx>
        <c:axId val="1927752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Rentals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982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AveargeRentalsByHour!$D$3</c:f>
              <c:strCache>
                <c:ptCount val="1"/>
                <c:pt idx="0">
                  <c:v>hour of day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AveargeRentalsByHour!$D$4:$D$27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39-4709-BC98-AD2D52D857A2}"/>
            </c:ext>
          </c:extLst>
        </c:ser>
        <c:ser>
          <c:idx val="1"/>
          <c:order val="1"/>
          <c:tx>
            <c:strRef>
              <c:f>AveargeRentalsByHour!$E$3</c:f>
              <c:strCache>
                <c:ptCount val="1"/>
                <c:pt idx="0">
                  <c:v>AverageRentals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AveargeRentalsByHour!$E$4:$E$27</c:f>
              <c:numCache>
                <c:formatCode>General</c:formatCode>
                <c:ptCount val="24"/>
                <c:pt idx="0">
                  <c:v>16.348837209302324</c:v>
                </c:pt>
                <c:pt idx="1">
                  <c:v>10.697674418604651</c:v>
                </c:pt>
                <c:pt idx="2">
                  <c:v>7.1707317073170733</c:v>
                </c:pt>
                <c:pt idx="3">
                  <c:v>4.870967741935484</c:v>
                </c:pt>
                <c:pt idx="4">
                  <c:v>2.15625</c:v>
                </c:pt>
                <c:pt idx="5">
                  <c:v>4.2051282051282053</c:v>
                </c:pt>
                <c:pt idx="6">
                  <c:v>19.571428571428573</c:v>
                </c:pt>
                <c:pt idx="7">
                  <c:v>54.395348837209305</c:v>
                </c:pt>
                <c:pt idx="8">
                  <c:v>128.28571428571428</c:v>
                </c:pt>
                <c:pt idx="9">
                  <c:v>87.428571428571431</c:v>
                </c:pt>
                <c:pt idx="10">
                  <c:v>53.642857142857146</c:v>
                </c:pt>
                <c:pt idx="11">
                  <c:v>59.38095238095238</c:v>
                </c:pt>
                <c:pt idx="12">
                  <c:v>76.348837209302332</c:v>
                </c:pt>
                <c:pt idx="13">
                  <c:v>78.511627906976742</c:v>
                </c:pt>
                <c:pt idx="14">
                  <c:v>74.418604651162795</c:v>
                </c:pt>
                <c:pt idx="15">
                  <c:v>77.95348837209302</c:v>
                </c:pt>
                <c:pt idx="16">
                  <c:v>89.272727272727266</c:v>
                </c:pt>
                <c:pt idx="17">
                  <c:v>140.20454545454547</c:v>
                </c:pt>
                <c:pt idx="18">
                  <c:v>122.86046511627907</c:v>
                </c:pt>
                <c:pt idx="19">
                  <c:v>85.139534883720927</c:v>
                </c:pt>
                <c:pt idx="20">
                  <c:v>61.767441860465119</c:v>
                </c:pt>
                <c:pt idx="21">
                  <c:v>46.418604651162788</c:v>
                </c:pt>
                <c:pt idx="22">
                  <c:v>35.069767441860463</c:v>
                </c:pt>
                <c:pt idx="23">
                  <c:v>25.186046511627907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39-4709-BC98-AD2D52D85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2670415"/>
        <c:axId val="1902670895"/>
      </c:lineChart>
      <c:catAx>
        <c:axId val="19026704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670895"/>
        <c:crosses val="autoZero"/>
        <c:auto val="1"/>
        <c:lblAlgn val="ctr"/>
        <c:lblOffset val="100"/>
        <c:noMultiLvlLbl val="0"/>
      </c:catAx>
      <c:valAx>
        <c:axId val="1902670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670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[BikeRentalDemandAnalysisProject.xlsx]AveargeRentalsByWeekday!PivotTable2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 Rentals By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AveargeRentalsByWeekday!$B$3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AveargeRentalsByWeekday!$A$4:$A$12</c:f>
              <c:strCache>
                <c:ptCount val="8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  <c:pt idx="7">
                  <c:v>(blank)</c:v>
                </c:pt>
              </c:strCache>
            </c:strRef>
          </c:cat>
          <c:val>
            <c:numRef>
              <c:f>AveargeRentalsByWeekday!$B$4:$B$12</c:f>
              <c:numCache>
                <c:formatCode>General</c:formatCode>
                <c:ptCount val="8"/>
                <c:pt idx="0">
                  <c:v>56.711409395973156</c:v>
                </c:pt>
                <c:pt idx="1">
                  <c:v>66.00787401574803</c:v>
                </c:pt>
                <c:pt idx="2">
                  <c:v>61.44274809160305</c:v>
                </c:pt>
                <c:pt idx="3">
                  <c:v>67.664000000000001</c:v>
                </c:pt>
                <c:pt idx="4">
                  <c:v>65.905797101449281</c:v>
                </c:pt>
                <c:pt idx="5">
                  <c:v>46.674698795180724</c:v>
                </c:pt>
                <c:pt idx="6">
                  <c:v>49.518292682926827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42-4BFE-8CC6-8C261A879E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5443151"/>
        <c:axId val="2045446031"/>
      </c:lineChart>
      <c:catAx>
        <c:axId val="2045443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Weekday</a:t>
                </a:r>
                <a:r>
                  <a:rPr lang="en-IN" baseline="0"/>
                  <a:t> (Mon=1)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5446031"/>
        <c:crosses val="autoZero"/>
        <c:auto val="1"/>
        <c:lblAlgn val="ctr"/>
        <c:lblOffset val="100"/>
        <c:noMultiLvlLbl val="0"/>
      </c:catAx>
      <c:valAx>
        <c:axId val="204544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Rentals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544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AveargeRentalsByWeekday!$D$3</c:f>
              <c:strCache>
                <c:ptCount val="1"/>
                <c:pt idx="0">
                  <c:v>Average Rentals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94-4CA6-8FAD-4475A9620F6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94-4CA6-8FAD-4475A9620F6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94-4CA6-8FAD-4475A9620F6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94-4CA6-8FAD-4475A9620F6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E94-4CA6-8FAD-4475A9620F6A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E94-4CA6-8FAD-4475A9620F6A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E94-4CA6-8FAD-4475A9620F6A}"/>
              </c:ext>
            </c:extLst>
          </c:dPt>
          <c:cat>
            <c:strRef>
              <c:f>AveargeRentalsByWeekday!$C$4:$C$10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AveargeRentalsByWeekday!$D$4:$D$10</c:f>
              <c:numCache>
                <c:formatCode>General</c:formatCode>
                <c:ptCount val="7"/>
                <c:pt idx="0">
                  <c:v>56.711409395973156</c:v>
                </c:pt>
                <c:pt idx="1">
                  <c:v>66.00787401574803</c:v>
                </c:pt>
                <c:pt idx="2">
                  <c:v>61.44274809160305</c:v>
                </c:pt>
                <c:pt idx="3">
                  <c:v>67.664000000000001</c:v>
                </c:pt>
                <c:pt idx="4">
                  <c:v>65.905797101449281</c:v>
                </c:pt>
                <c:pt idx="5">
                  <c:v>46.674698795180724</c:v>
                </c:pt>
                <c:pt idx="6">
                  <c:v>49.518292682926827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E94-4CA6-8FAD-4475A9620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AveargeRentalsBySeason!$D$4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AveargeRentalsBySeason!$E$3</c:f>
              <c:strCache>
                <c:ptCount val="1"/>
                <c:pt idx="0">
                  <c:v>AverageRentals</c:v>
                </c:pt>
              </c:strCache>
            </c:strRef>
          </c:cat>
          <c:val>
            <c:numRef>
              <c:f>AveargeRentalsBySeason!$E$4</c:f>
              <c:numCache>
                <c:formatCode>General</c:formatCode>
                <c:ptCount val="1"/>
                <c:pt idx="0">
                  <c:v>58.304000000000002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8F-4CD9-BA0C-1A4BA7899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1398079"/>
        <c:axId val="2058555807"/>
      </c:barChart>
      <c:catAx>
        <c:axId val="931398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555807"/>
        <c:crosses val="autoZero"/>
        <c:auto val="1"/>
        <c:lblAlgn val="ctr"/>
        <c:lblOffset val="100"/>
        <c:noMultiLvlLbl val="0"/>
      </c:catAx>
      <c:valAx>
        <c:axId val="2058555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398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830667905642228E-2"/>
          <c:y val="2.3777141493676927E-2"/>
          <c:w val="0.90871814936176454"/>
          <c:h val="0.55214916317278517"/>
        </c:manualLayout>
      </c:layout>
      <c:lineChart>
        <c:grouping val="standard"/>
        <c:varyColors val="0"/>
        <c:ser>
          <c:idx val="0"/>
          <c:order val="0"/>
          <c:tx>
            <c:strRef>
              <c:f>Sheet13!$B$1</c:f>
              <c:strCache>
                <c:ptCount val="1"/>
                <c:pt idx="0">
                  <c:v>Sum of cnt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Sheet13!$B$2:$B$58</c:f>
              <c:numCache>
                <c:formatCode>General</c:formatCode>
                <c:ptCount val="57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8F-4B03-96E0-6EC9B152E4A7}"/>
            </c:ext>
          </c:extLst>
        </c:ser>
        <c:ser>
          <c:idx val="1"/>
          <c:order val="1"/>
          <c:tx>
            <c:strRef>
              <c:f>Sheet13!$C$1</c:f>
              <c:strCache>
                <c:ptCount val="1"/>
                <c:pt idx="0">
                  <c:v>Forecast(Sum of cnt)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Sheet13!$C$2:$C$58</c:f>
              <c:numCache>
                <c:formatCode>General</c:formatCode>
                <c:ptCount val="57"/>
                <c:pt idx="44">
                  <c:v>151</c:v>
                </c:pt>
                <c:pt idx="45">
                  <c:v>1387.2167441635288</c:v>
                </c:pt>
                <c:pt idx="46">
                  <c:v>1392.5597746183603</c:v>
                </c:pt>
                <c:pt idx="47">
                  <c:v>1397.902805073192</c:v>
                </c:pt>
                <c:pt idx="48">
                  <c:v>1403.2458355280237</c:v>
                </c:pt>
                <c:pt idx="49">
                  <c:v>1408.5888659828554</c:v>
                </c:pt>
                <c:pt idx="50">
                  <c:v>1413.9318964376871</c:v>
                </c:pt>
                <c:pt idx="51">
                  <c:v>1419.2749268925186</c:v>
                </c:pt>
                <c:pt idx="52">
                  <c:v>1424.6179573473503</c:v>
                </c:pt>
                <c:pt idx="53">
                  <c:v>1429.960987802182</c:v>
                </c:pt>
                <c:pt idx="54">
                  <c:v>1435.3040182570135</c:v>
                </c:pt>
                <c:pt idx="55">
                  <c:v>1440.6470487118452</c:v>
                </c:pt>
                <c:pt idx="56">
                  <c:v>1445.9900791666769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8F-4B03-96E0-6EC9B152E4A7}"/>
            </c:ext>
          </c:extLst>
        </c:ser>
        <c:ser>
          <c:idx val="2"/>
          <c:order val="2"/>
          <c:tx>
            <c:strRef>
              <c:f>Sheet13!$D$1</c:f>
              <c:strCache>
                <c:ptCount val="1"/>
                <c:pt idx="0">
                  <c:v>Lower Confidence Bound(Sum of cnt)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Sheet13!$D$2:$D$58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585.50542669163815</c:v>
                </c:pt>
                <c:pt idx="46" formatCode="0.00">
                  <c:v>586.76970401902065</c:v>
                </c:pt>
                <c:pt idx="47" formatCode="0.00">
                  <c:v>587.97397139650093</c:v>
                </c:pt>
                <c:pt idx="48" formatCode="0.00">
                  <c:v>589.11835455358994</c:v>
                </c:pt>
                <c:pt idx="49" formatCode="0.00">
                  <c:v>590.2029898038752</c:v>
                </c:pt>
                <c:pt idx="50" formatCode="0.00">
                  <c:v>591.22802367584165</c:v>
                </c:pt>
                <c:pt idx="51" formatCode="0.00">
                  <c:v>592.19361254419198</c:v>
                </c:pt>
                <c:pt idx="52" formatCode="0.00">
                  <c:v>593.09992226226586</c:v>
                </c:pt>
                <c:pt idx="53" formatCode="0.00">
                  <c:v>593.94712779612632</c:v>
                </c:pt>
                <c:pt idx="54" formatCode="0.00">
                  <c:v>594.73541286086618</c:v>
                </c:pt>
                <c:pt idx="55" formatCode="0.00">
                  <c:v>595.46496955964824</c:v>
                </c:pt>
                <c:pt idx="56" formatCode="0.00">
                  <c:v>596.13599802596889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8F-4B03-96E0-6EC9B152E4A7}"/>
            </c:ext>
          </c:extLst>
        </c:ser>
        <c:ser>
          <c:idx val="3"/>
          <c:order val="3"/>
          <c:tx>
            <c:strRef>
              <c:f>Sheet13!$E$1</c:f>
              <c:strCache>
                <c:ptCount val="1"/>
                <c:pt idx="0">
                  <c:v>Upper Confidence Bound(Sum of cnt)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Sheet13!$E$2:$E$58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2188.9280616354195</c:v>
                </c:pt>
                <c:pt idx="46" formatCode="0.00">
                  <c:v>2198.3498452177</c:v>
                </c:pt>
                <c:pt idx="47" formatCode="0.00">
                  <c:v>2207.831638749883</c:v>
                </c:pt>
                <c:pt idx="48" formatCode="0.00">
                  <c:v>2217.3733165024573</c:v>
                </c:pt>
                <c:pt idx="49" formatCode="0.00">
                  <c:v>2226.9747421618358</c:v>
                </c:pt>
                <c:pt idx="50" formatCode="0.00">
                  <c:v>2236.6357691995327</c:v>
                </c:pt>
                <c:pt idx="51" formatCode="0.00">
                  <c:v>2246.3562412408451</c:v>
                </c:pt>
                <c:pt idx="52" formatCode="0.00">
                  <c:v>2256.1359924324347</c:v>
                </c:pt>
                <c:pt idx="53" formatCode="0.00">
                  <c:v>2265.9748478082374</c:v>
                </c:pt>
                <c:pt idx="54" formatCode="0.00">
                  <c:v>2275.8726236531606</c:v>
                </c:pt>
                <c:pt idx="55" formatCode="0.00">
                  <c:v>2285.8291278640422</c:v>
                </c:pt>
                <c:pt idx="56" formatCode="0.00">
                  <c:v>2295.8441603073848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8F-4B03-96E0-6EC9B152E4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361392"/>
        <c:axId val="333364272"/>
      </c:lineChart>
      <c:catAx>
        <c:axId val="33336139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364272"/>
        <c:crosses val="autoZero"/>
        <c:auto val="1"/>
        <c:lblAlgn val="ctr"/>
        <c:lblOffset val="100"/>
        <c:noMultiLvlLbl val="0"/>
      </c:catAx>
      <c:valAx>
        <c:axId val="333364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36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AverageRentalByWeather!$E$3</c:f>
              <c:strCache>
                <c:ptCount val="1"/>
                <c:pt idx="0">
                  <c:v>average rentals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DEB-4775-B658-097E122193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DEB-4775-B658-097E122193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DEB-4775-B658-097E122193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DEB-4775-B658-097E122193D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DEB-4775-B658-097E122193D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7DEB-4775-B658-097E122193D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7DEB-4775-B658-097E122193D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7DEB-4775-B658-097E122193DB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AverageRentalByWeather!$D$4:$D$11</c:f>
              <c:strCache>
                <c:ptCount val="8"/>
                <c:pt idx="0">
                  <c:v>1</c:v>
                </c:pt>
                <c:pt idx="1">
                  <c:v>Clear</c:v>
                </c:pt>
                <c:pt idx="2">
                  <c:v>2</c:v>
                </c:pt>
                <c:pt idx="3">
                  <c:v>Mist/Cloudy</c:v>
                </c:pt>
                <c:pt idx="4">
                  <c:v>3</c:v>
                </c:pt>
                <c:pt idx="5">
                  <c:v>Light Rain/Snow</c:v>
                </c:pt>
                <c:pt idx="6">
                  <c:v>4</c:v>
                </c:pt>
                <c:pt idx="7">
                  <c:v>Heavy Rain/Storm</c:v>
                </c:pt>
              </c:strCache>
            </c:strRef>
          </c:cat>
          <c:val>
            <c:numRef>
              <c:f>AverageRentalByWeather!$E$4:$E$11</c:f>
              <c:numCache>
                <c:formatCode>General</c:formatCode>
                <c:ptCount val="8"/>
                <c:pt idx="0">
                  <c:v>58.319612590799032</c:v>
                </c:pt>
                <c:pt idx="2">
                  <c:v>55.422222222222224</c:v>
                </c:pt>
                <c:pt idx="4">
                  <c:v>32.591836734693878</c:v>
                </c:pt>
                <c:pt idx="6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DEB-4775-B658-097E122193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F7-4DFF-BC7D-E35CEA5998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F7-4DFF-BC7D-E35CEA59987B}"/>
              </c:ext>
            </c:extLst>
          </c:dPt>
          <c:cat>
            <c:strRef>
              <c:f>TotalUser!$A$10:$B$10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TotalUser!$A$11:$B$11</c:f>
              <c:numCache>
                <c:formatCode>General</c:formatCode>
                <c:ptCount val="2"/>
                <c:pt idx="0">
                  <c:v>3073</c:v>
                </c:pt>
                <c:pt idx="1">
                  <c:v>35116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F7-4DFF-BC7D-E35CEA5998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99635692226168"/>
          <c:y val="8.988769346645048E-2"/>
          <c:w val="0.83373655580118733"/>
          <c:h val="0.57248374914255751"/>
        </c:manualLayout>
      </c:layout>
      <c:lineChart>
        <c:grouping val="standard"/>
        <c:varyColors val="0"/>
        <c:ser>
          <c:idx val="0"/>
          <c:order val="0"/>
          <c:tx>
            <c:strRef>
              <c:f>AveargeRentalsByHour!$D$3</c:f>
              <c:strCache>
                <c:ptCount val="1"/>
                <c:pt idx="0">
                  <c:v>hour of day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AveargeRentalsByHour!$D$4:$D$27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79-43DF-BD30-1EEAEC0E4E89}"/>
            </c:ext>
          </c:extLst>
        </c:ser>
        <c:ser>
          <c:idx val="1"/>
          <c:order val="1"/>
          <c:tx>
            <c:strRef>
              <c:f>AveargeRentalsByHour!$E$3</c:f>
              <c:strCache>
                <c:ptCount val="1"/>
                <c:pt idx="0">
                  <c:v>AverageRentals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AveargeRentalsByHour!$E$4:$E$27</c:f>
              <c:numCache>
                <c:formatCode>General</c:formatCode>
                <c:ptCount val="24"/>
                <c:pt idx="0">
                  <c:v>16.348837209302324</c:v>
                </c:pt>
                <c:pt idx="1">
                  <c:v>10.697674418604651</c:v>
                </c:pt>
                <c:pt idx="2">
                  <c:v>7.1707317073170733</c:v>
                </c:pt>
                <c:pt idx="3">
                  <c:v>4.870967741935484</c:v>
                </c:pt>
                <c:pt idx="4">
                  <c:v>2.15625</c:v>
                </c:pt>
                <c:pt idx="5">
                  <c:v>4.2051282051282053</c:v>
                </c:pt>
                <c:pt idx="6">
                  <c:v>19.571428571428573</c:v>
                </c:pt>
                <c:pt idx="7">
                  <c:v>54.395348837209305</c:v>
                </c:pt>
                <c:pt idx="8">
                  <c:v>128.28571428571428</c:v>
                </c:pt>
                <c:pt idx="9">
                  <c:v>87.428571428571431</c:v>
                </c:pt>
                <c:pt idx="10">
                  <c:v>53.642857142857146</c:v>
                </c:pt>
                <c:pt idx="11">
                  <c:v>59.38095238095238</c:v>
                </c:pt>
                <c:pt idx="12">
                  <c:v>76.348837209302332</c:v>
                </c:pt>
                <c:pt idx="13">
                  <c:v>78.511627906976742</c:v>
                </c:pt>
                <c:pt idx="14">
                  <c:v>74.418604651162795</c:v>
                </c:pt>
                <c:pt idx="15">
                  <c:v>77.95348837209302</c:v>
                </c:pt>
                <c:pt idx="16">
                  <c:v>89.272727272727266</c:v>
                </c:pt>
                <c:pt idx="17">
                  <c:v>140.20454545454547</c:v>
                </c:pt>
                <c:pt idx="18">
                  <c:v>122.86046511627907</c:v>
                </c:pt>
                <c:pt idx="19">
                  <c:v>85.139534883720927</c:v>
                </c:pt>
                <c:pt idx="20">
                  <c:v>61.767441860465119</c:v>
                </c:pt>
                <c:pt idx="21">
                  <c:v>46.418604651162788</c:v>
                </c:pt>
                <c:pt idx="22">
                  <c:v>35.069767441860463</c:v>
                </c:pt>
                <c:pt idx="23">
                  <c:v>25.186046511627907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79-43DF-BD30-1EEAEC0E4E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2670415"/>
        <c:axId val="1902670895"/>
      </c:lineChart>
      <c:catAx>
        <c:axId val="19026704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670895"/>
        <c:crosses val="autoZero"/>
        <c:auto val="1"/>
        <c:lblAlgn val="ctr"/>
        <c:lblOffset val="100"/>
        <c:noMultiLvlLbl val="0"/>
      </c:catAx>
      <c:valAx>
        <c:axId val="1902670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670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AveargeRentalsBySeason!$D$4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AveargeRentalsBySeason!$E$3</c:f>
              <c:strCache>
                <c:ptCount val="1"/>
                <c:pt idx="0">
                  <c:v>AverageRentals</c:v>
                </c:pt>
              </c:strCache>
            </c:strRef>
          </c:cat>
          <c:val>
            <c:numRef>
              <c:f>AveargeRentalsBySeason!$E$4</c:f>
              <c:numCache>
                <c:formatCode>General</c:formatCode>
                <c:ptCount val="1"/>
                <c:pt idx="0">
                  <c:v>58.304000000000002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EF-4AF9-B42E-311CD695C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1398079"/>
        <c:axId val="2058555807"/>
      </c:barChart>
      <c:catAx>
        <c:axId val="931398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555807"/>
        <c:crosses val="autoZero"/>
        <c:auto val="1"/>
        <c:lblAlgn val="ctr"/>
        <c:lblOffset val="100"/>
        <c:noMultiLvlLbl val="0"/>
      </c:catAx>
      <c:valAx>
        <c:axId val="2058555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398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AverageRentalByWeather!$E$3</c:f>
              <c:strCache>
                <c:ptCount val="1"/>
                <c:pt idx="0">
                  <c:v>average rentals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7F0-4642-A69A-DED5E3FA459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7F0-4642-A69A-DED5E3FA459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7F0-4642-A69A-DED5E3FA459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7F0-4642-A69A-DED5E3FA459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7F0-4642-A69A-DED5E3FA459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F7F0-4642-A69A-DED5E3FA459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F7F0-4642-A69A-DED5E3FA4598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F7F0-4642-A69A-DED5E3FA459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AverageRentalByWeather!$D$4:$D$11</c:f>
              <c:strCache>
                <c:ptCount val="8"/>
                <c:pt idx="0">
                  <c:v>1</c:v>
                </c:pt>
                <c:pt idx="1">
                  <c:v>Clear</c:v>
                </c:pt>
                <c:pt idx="2">
                  <c:v>2</c:v>
                </c:pt>
                <c:pt idx="3">
                  <c:v>Mist/Cloudy</c:v>
                </c:pt>
                <c:pt idx="4">
                  <c:v>3</c:v>
                </c:pt>
                <c:pt idx="5">
                  <c:v>Light Rain/Snow</c:v>
                </c:pt>
                <c:pt idx="6">
                  <c:v>4</c:v>
                </c:pt>
                <c:pt idx="7">
                  <c:v>Heavy Rain/Storm</c:v>
                </c:pt>
              </c:strCache>
            </c:strRef>
          </c:cat>
          <c:val>
            <c:numRef>
              <c:f>AverageRentalByWeather!$E$4:$E$11</c:f>
              <c:numCache>
                <c:formatCode>General</c:formatCode>
                <c:ptCount val="8"/>
                <c:pt idx="0">
                  <c:v>58.319612590799032</c:v>
                </c:pt>
                <c:pt idx="2">
                  <c:v>55.422222222222224</c:v>
                </c:pt>
                <c:pt idx="4">
                  <c:v>32.591836734693878</c:v>
                </c:pt>
                <c:pt idx="6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7F0-4642-A69A-DED5E3FA45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60000"/>
        <a:lumOff val="40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F8-4D06-9EE6-EE2174D4F9A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F8-4D06-9EE6-EE2174D4F9A4}"/>
              </c:ext>
            </c:extLst>
          </c:dPt>
          <c:cat>
            <c:strRef>
              <c:f>TotalUser!$A$10:$B$10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TotalUser!$A$11:$B$11</c:f>
              <c:numCache>
                <c:formatCode>General</c:formatCode>
                <c:ptCount val="2"/>
                <c:pt idx="0">
                  <c:v>3073</c:v>
                </c:pt>
                <c:pt idx="1">
                  <c:v>35116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F8-4D06-9EE6-EE2174D4F9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60000"/>
        <a:lumOff val="4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830667905642228E-2"/>
          <c:y val="2.3777141493676927E-2"/>
          <c:w val="0.90871814936176454"/>
          <c:h val="0.55214916317278517"/>
        </c:manualLayout>
      </c:layout>
      <c:lineChart>
        <c:grouping val="standard"/>
        <c:varyColors val="0"/>
        <c:ser>
          <c:idx val="0"/>
          <c:order val="0"/>
          <c:tx>
            <c:strRef>
              <c:f>Sheet13!$B$1</c:f>
              <c:strCache>
                <c:ptCount val="1"/>
                <c:pt idx="0">
                  <c:v>Sum of cnt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Sheet13!$B$2:$B$58</c:f>
              <c:numCache>
                <c:formatCode>General</c:formatCode>
                <c:ptCount val="57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10-4116-98D9-DA465B52692E}"/>
            </c:ext>
          </c:extLst>
        </c:ser>
        <c:ser>
          <c:idx val="1"/>
          <c:order val="1"/>
          <c:tx>
            <c:strRef>
              <c:f>Sheet13!$C$1</c:f>
              <c:strCache>
                <c:ptCount val="1"/>
                <c:pt idx="0">
                  <c:v>Forecast(Sum of cnt)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Sheet13!$C$2:$C$58</c:f>
              <c:numCache>
                <c:formatCode>General</c:formatCode>
                <c:ptCount val="57"/>
                <c:pt idx="44">
                  <c:v>151</c:v>
                </c:pt>
                <c:pt idx="45">
                  <c:v>1387.2167441635288</c:v>
                </c:pt>
                <c:pt idx="46">
                  <c:v>1392.5597746183603</c:v>
                </c:pt>
                <c:pt idx="47">
                  <c:v>1397.902805073192</c:v>
                </c:pt>
                <c:pt idx="48">
                  <c:v>1403.2458355280237</c:v>
                </c:pt>
                <c:pt idx="49">
                  <c:v>1408.5888659828554</c:v>
                </c:pt>
                <c:pt idx="50">
                  <c:v>1413.9318964376871</c:v>
                </c:pt>
                <c:pt idx="51">
                  <c:v>1419.2749268925186</c:v>
                </c:pt>
                <c:pt idx="52">
                  <c:v>1424.6179573473503</c:v>
                </c:pt>
                <c:pt idx="53">
                  <c:v>1429.960987802182</c:v>
                </c:pt>
                <c:pt idx="54">
                  <c:v>1435.3040182570135</c:v>
                </c:pt>
                <c:pt idx="55">
                  <c:v>1440.6470487118452</c:v>
                </c:pt>
                <c:pt idx="56">
                  <c:v>1445.9900791666769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10-4116-98D9-DA465B52692E}"/>
            </c:ext>
          </c:extLst>
        </c:ser>
        <c:ser>
          <c:idx val="2"/>
          <c:order val="2"/>
          <c:tx>
            <c:strRef>
              <c:f>Sheet13!$D$1</c:f>
              <c:strCache>
                <c:ptCount val="1"/>
                <c:pt idx="0">
                  <c:v>Lower Confidence Bound(Sum of cnt)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Sheet13!$D$2:$D$58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585.50542669163815</c:v>
                </c:pt>
                <c:pt idx="46" formatCode="0.00">
                  <c:v>586.76970401902065</c:v>
                </c:pt>
                <c:pt idx="47" formatCode="0.00">
                  <c:v>587.97397139650093</c:v>
                </c:pt>
                <c:pt idx="48" formatCode="0.00">
                  <c:v>589.11835455358994</c:v>
                </c:pt>
                <c:pt idx="49" formatCode="0.00">
                  <c:v>590.2029898038752</c:v>
                </c:pt>
                <c:pt idx="50" formatCode="0.00">
                  <c:v>591.22802367584165</c:v>
                </c:pt>
                <c:pt idx="51" formatCode="0.00">
                  <c:v>592.19361254419198</c:v>
                </c:pt>
                <c:pt idx="52" formatCode="0.00">
                  <c:v>593.09992226226586</c:v>
                </c:pt>
                <c:pt idx="53" formatCode="0.00">
                  <c:v>593.94712779612632</c:v>
                </c:pt>
                <c:pt idx="54" formatCode="0.00">
                  <c:v>594.73541286086618</c:v>
                </c:pt>
                <c:pt idx="55" formatCode="0.00">
                  <c:v>595.46496955964824</c:v>
                </c:pt>
                <c:pt idx="56" formatCode="0.00">
                  <c:v>596.13599802596889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10-4116-98D9-DA465B52692E}"/>
            </c:ext>
          </c:extLst>
        </c:ser>
        <c:ser>
          <c:idx val="3"/>
          <c:order val="3"/>
          <c:tx>
            <c:strRef>
              <c:f>Sheet13!$E$1</c:f>
              <c:strCache>
                <c:ptCount val="1"/>
                <c:pt idx="0">
                  <c:v>Upper Confidence Bound(Sum of cnt)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Sheet13!$A$2:$A$58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Sheet13!$E$2:$E$58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2188.9280616354195</c:v>
                </c:pt>
                <c:pt idx="46" formatCode="0.00">
                  <c:v>2198.3498452177</c:v>
                </c:pt>
                <c:pt idx="47" formatCode="0.00">
                  <c:v>2207.831638749883</c:v>
                </c:pt>
                <c:pt idx="48" formatCode="0.00">
                  <c:v>2217.3733165024573</c:v>
                </c:pt>
                <c:pt idx="49" formatCode="0.00">
                  <c:v>2226.9747421618358</c:v>
                </c:pt>
                <c:pt idx="50" formatCode="0.00">
                  <c:v>2236.6357691995327</c:v>
                </c:pt>
                <c:pt idx="51" formatCode="0.00">
                  <c:v>2246.3562412408451</c:v>
                </c:pt>
                <c:pt idx="52" formatCode="0.00">
                  <c:v>2256.1359924324347</c:v>
                </c:pt>
                <c:pt idx="53" formatCode="0.00">
                  <c:v>2265.9748478082374</c:v>
                </c:pt>
                <c:pt idx="54" formatCode="0.00">
                  <c:v>2275.8726236531606</c:v>
                </c:pt>
                <c:pt idx="55" formatCode="0.00">
                  <c:v>2285.8291278640422</c:v>
                </c:pt>
                <c:pt idx="56" formatCode="0.00">
                  <c:v>2295.8441603073848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710-4116-98D9-DA465B526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361392"/>
        <c:axId val="333364272"/>
      </c:lineChart>
      <c:catAx>
        <c:axId val="33336139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364272"/>
        <c:crosses val="autoZero"/>
        <c:auto val="1"/>
        <c:lblAlgn val="ctr"/>
        <c:lblOffset val="100"/>
        <c:noMultiLvlLbl val="0"/>
      </c:catAx>
      <c:valAx>
        <c:axId val="333364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36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AveargeRentalsByWeekday!$D$3</c:f>
              <c:strCache>
                <c:ptCount val="1"/>
                <c:pt idx="0">
                  <c:v>Average Rentals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B-442A-BDA4-FA229641EB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B-442A-BDA4-FA229641EB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B-442A-BDA4-FA229641EB3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B-442A-BDA4-FA229641EB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B-442A-BDA4-FA229641EB3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A2B-442A-BDA4-FA229641EB3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A2B-442A-BDA4-FA229641EB3F}"/>
              </c:ext>
            </c:extLst>
          </c:dPt>
          <c:cat>
            <c:strRef>
              <c:f>AveargeRentalsByWeekday!$C$4:$C$10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AveargeRentalsByWeekday!$D$4:$D$10</c:f>
              <c:numCache>
                <c:formatCode>General</c:formatCode>
                <c:ptCount val="7"/>
                <c:pt idx="0">
                  <c:v>56.711409395973156</c:v>
                </c:pt>
                <c:pt idx="1">
                  <c:v>66.00787401574803</c:v>
                </c:pt>
                <c:pt idx="2">
                  <c:v>61.44274809160305</c:v>
                </c:pt>
                <c:pt idx="3">
                  <c:v>67.664000000000001</c:v>
                </c:pt>
                <c:pt idx="4">
                  <c:v>65.905797101449281</c:v>
                </c:pt>
                <c:pt idx="5">
                  <c:v>46.674698795180724</c:v>
                </c:pt>
                <c:pt idx="6">
                  <c:v>49.518292682926827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A2B-442A-BDA4-FA229641E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60000"/>
        <a:lumOff val="4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84D0-473F-22E8-0AC5-488988B1E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7C97A-2DB6-9992-F08B-D529B6ACE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34A71-DD73-1C93-434C-2C0AEF9C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8A2C-C703-B9B8-2E97-4487E23A5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B699F-AE0B-44B5-09C1-22E9772A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4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9D99-56F6-B17F-EA27-5EAF476F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074D2-7F9F-C915-3732-A7F8DCBB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6AD6-CE39-D1C5-CC27-056E1B0F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9636-A431-7FFB-F451-85B67E67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3474-11F3-8E7F-7732-BBF5F936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18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5639-20D9-F831-EB6B-96865F5B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83B35-90CC-5A75-99B2-52E079600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F192-9C54-BDDE-1AF4-EEF24724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5EDBA-FFF1-A0F9-B526-E560B76F6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16E75-3B16-1EE2-3853-A394166A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3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D51E-4C16-B04B-995A-E0866A69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674B4-8D4C-9994-7C77-F5AA8D0E3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579F9-22AD-B44D-DFF1-D9653BCF7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486FB-497C-5047-576F-20BE0F02D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83583-D6CE-C0DA-3C9F-30390A1C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C0FE-27D1-AF5B-9C6B-7E4D644A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11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82B9-3A6C-0841-E82C-8E1782AF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87191-2417-9AC3-9CE4-69A1FE412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7AF3A-4B79-83FF-5E7E-5BA71D3B7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7683F-BD5B-05E3-7398-F28895C5F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F462A-C8E7-9A55-906F-B5CB5D69A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6D77A-4EEC-B100-E4F9-843F7322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05C30-0BA1-B339-DFB4-7E3F862A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260D5-DEEF-2E43-BBAF-7EE037EB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38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3B7E-5FE0-17FA-13C2-A5BDFFCA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A9419-67D0-85C0-D8A9-D7EFA76E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52774-3769-FDA2-E85A-0381821B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EAFF1-34AE-CCB2-392A-486E804F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4BDB4-CF56-218D-1393-CB4B51F0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E1F2A-B9CE-3F66-81A6-E88ACD3C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AE6B2-E036-A792-AC34-6F17B5F9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00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63B-ACEB-4F9F-61C7-62A0F769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ADC35-3400-D108-F2B0-FF9BECA0B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9502-9F77-A3C9-1172-9C73A7E22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0B2AB-7FE7-DEBF-F356-EE442293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DDEC4-8BA8-CDFF-CBEB-214C57C8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7A914-D622-8123-BBF7-50BDF197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B5AF-71B7-C8DE-7F41-9EE2EA1D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8266D-F397-DA96-8509-3FAC983BA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013C9-4DFB-C403-15F1-14F0F47F3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AD01D-70BD-55B0-355F-2C718D55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6F076-EA54-D6CE-4EAF-11CD0E96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09F74-701F-475E-3D9A-25459DEC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07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4FA9-9FA8-5497-56AC-683803FB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A90E0-4CB2-CB46-10C3-948D29639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169AD-4FFA-45AF-BE69-FBE959990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3641-9F84-EC6F-4465-784F8172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7A80-23FC-5ADC-E47E-4D04EDAC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94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0841B6-D210-0C85-1A46-1875F78B5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DAD57-1CCA-A0B0-23BC-0EB8ABB22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19B6-2CB3-914B-017B-278B5483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06EE5-04A5-3DBA-4049-4212E980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32CDA-E03A-1198-5C35-7B02C793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83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1844A-A368-3F22-ED93-8B68C77E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E2383-DE6B-08E2-E028-5B360C75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02ECB-725D-618C-BB7A-95F0679F4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234BA-F13E-4984-ACAE-8DFC482629D7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4B758-E500-46C5-371F-E5635C042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9AD6C-D7B6-10B5-938E-9C7AB0698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EDC7D-BEF1-49EB-B294-C117FCD3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3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svg"/><Relationship Id="rId7" Type="http://schemas.openxmlformats.org/officeDocument/2006/relationships/chart" Target="../charts/chart12.xml"/><Relationship Id="rId12" Type="http://schemas.openxmlformats.org/officeDocument/2006/relationships/chart" Target="../charts/chart1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11" Type="http://schemas.openxmlformats.org/officeDocument/2006/relationships/chart" Target="../charts/chart13.xml"/><Relationship Id="rId5" Type="http://schemas.openxmlformats.org/officeDocument/2006/relationships/chart" Target="../charts/chart10.xml"/><Relationship Id="rId10" Type="http://schemas.openxmlformats.org/officeDocument/2006/relationships/image" Target="../media/image13.png"/><Relationship Id="rId4" Type="http://schemas.openxmlformats.org/officeDocument/2006/relationships/chart" Target="../charts/chart9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AD7D-F0AC-E6B3-43DB-2245805DC4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NextHikes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Solution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Bike Sharing Demand Analysis Project Using Excel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13303-8FFC-8BE6-D377-E8442FF75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Summary describing methods, findings, and recommendations.</a:t>
            </a:r>
          </a:p>
          <a:p>
            <a:r>
              <a:rPr lang="en-US" sz="1800" dirty="0"/>
              <a:t>By Priyanka Kothari.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0179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9BB6-8F8E-B8BA-F8A8-9D48023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1687-29F2-4B80-5404-0D9F9AA16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loads, cleans, and analyzes bike-sharing datasets to show how weather, time, and holidays affect rentals. Deliverables include a cleaned dataset, aggregated analysis, charts.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48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1113-FB59-73A2-F594-3F700475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Loading &amp; Cleaning With Exploratory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64291-ECF7-EB5E-D70D-DFCD4ECD3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loaded from the provided Excel files. Merged on common keys where available (instant, </a:t>
            </a:r>
            <a:r>
              <a:rPr lang="en-US" dirty="0" err="1"/>
              <a:t>dteday</a:t>
            </a:r>
            <a:r>
              <a:rPr lang="en-US" dirty="0"/>
              <a:t>, </a:t>
            </a:r>
            <a:r>
              <a:rPr lang="en-US" dirty="0" err="1"/>
              <a:t>hr</a:t>
            </a:r>
            <a:r>
              <a:rPr lang="en-US" dirty="0"/>
              <a:t>). Missing dates were coerced to datetime; duplicates removed. Rows with critical missing fields are flagged for manual review.</a:t>
            </a:r>
            <a:endParaRPr lang="en-IN" dirty="0"/>
          </a:p>
          <a:p>
            <a:r>
              <a:rPr lang="en-US" dirty="0"/>
              <a:t>Derived features added: weekday (1=Mon), </a:t>
            </a:r>
            <a:r>
              <a:rPr lang="en-US" dirty="0" err="1"/>
              <a:t>is_weekend</a:t>
            </a:r>
            <a:r>
              <a:rPr lang="en-US" dirty="0"/>
              <a:t> (True/False), date, </a:t>
            </a:r>
            <a:r>
              <a:rPr lang="en-US" dirty="0" err="1"/>
              <a:t>season_name</a:t>
            </a:r>
            <a:r>
              <a:rPr lang="en-US" dirty="0"/>
              <a:t> (where season present), and </a:t>
            </a:r>
            <a:r>
              <a:rPr lang="en-US" dirty="0" err="1"/>
              <a:t>cnt</a:t>
            </a:r>
            <a:r>
              <a:rPr lang="en-US" dirty="0"/>
              <a:t> (</a:t>
            </a:r>
            <a:r>
              <a:rPr lang="en-US" dirty="0" err="1"/>
              <a:t>registered+casual</a:t>
            </a:r>
            <a:r>
              <a:rPr lang="en-US" dirty="0"/>
              <a:t>).</a:t>
            </a:r>
            <a:endParaRPr lang="en-IN" dirty="0"/>
          </a:p>
          <a:p>
            <a:r>
              <a:rPr lang="en-US" dirty="0"/>
              <a:t>Aggregations included average rentals by hour, weekday, and season. Charts saved in the charts sheet illustrate hourly and weekly demand patterns..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99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738614D-6D1E-FBBE-3398-85ABAFF96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642387"/>
              </p:ext>
            </p:extLst>
          </p:nvPr>
        </p:nvGraphicFramePr>
        <p:xfrm>
          <a:off x="4510286" y="52573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A5AFD0-944B-3379-4216-52EFD17F28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741450"/>
              </p:ext>
            </p:extLst>
          </p:nvPr>
        </p:nvGraphicFramePr>
        <p:xfrm>
          <a:off x="4510286" y="35890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488EE9B-BA0A-D7D5-9A2C-8519707BA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127238"/>
              </p:ext>
            </p:extLst>
          </p:nvPr>
        </p:nvGraphicFramePr>
        <p:xfrm>
          <a:off x="430972" y="1447801"/>
          <a:ext cx="3099628" cy="4602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6157">
                  <a:extLst>
                    <a:ext uri="{9D8B030D-6E8A-4147-A177-3AD203B41FA5}">
                      <a16:colId xmlns:a16="http://schemas.microsoft.com/office/drawing/2014/main" val="883102131"/>
                    </a:ext>
                  </a:extLst>
                </a:gridCol>
                <a:gridCol w="1593471">
                  <a:extLst>
                    <a:ext uri="{9D8B030D-6E8A-4147-A177-3AD203B41FA5}">
                      <a16:colId xmlns:a16="http://schemas.microsoft.com/office/drawing/2014/main" val="1283056683"/>
                    </a:ext>
                  </a:extLst>
                </a:gridCol>
              </a:tblGrid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Hour of Day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Average of cnt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61902524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16.34883721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124486252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10.69767442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654883689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7.170731707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81212724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4.870967742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3194331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2.15625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335901155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4.205128205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986079059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19.57142857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465088954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54.39534884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165499778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128.2857143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053654649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87.42857143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351291630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53.64285714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521473641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59.38095238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071586496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76.34883721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238370083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78.51162791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686157399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74.41860465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447188344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77.95348837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3770090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89.27272727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094142177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140.2045455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787689137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122.8604651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21299816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19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85.13953488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4126306479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61.76744186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921323927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46.41860465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670283683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35.06976744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024845893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25.18604651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811354226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(blank)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801366423"/>
                  </a:ext>
                </a:extLst>
              </a:tr>
              <a:tr h="17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</a:rPr>
                        <a:t>Grand Total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 dirty="0">
                          <a:effectLst/>
                        </a:rPr>
                        <a:t>58.304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0901060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2A8574-CBBD-2D99-9D92-B9365BFC25DC}"/>
              </a:ext>
            </a:extLst>
          </p:cNvPr>
          <p:cNvSpPr txBox="1"/>
          <p:nvPr/>
        </p:nvSpPr>
        <p:spPr>
          <a:xfrm>
            <a:off x="787400" y="525732"/>
            <a:ext cx="2476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Rentals By Hour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64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7764-AB3C-A20B-401A-CA3D38CF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Rentals By Weekday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1D9E81-1403-F349-6E0F-51DA8D591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88862"/>
              </p:ext>
            </p:extLst>
          </p:nvPr>
        </p:nvGraphicFramePr>
        <p:xfrm>
          <a:off x="838200" y="1956594"/>
          <a:ext cx="35052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947031957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190396933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0814025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797194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Weekday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cnt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weekday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Rentals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0272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56.7114094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56.7114094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18450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Tuesday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66.00787402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Tuesday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66.00787402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2534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Wednesday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61.44274809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Wednesday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61.44274809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93879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Thursday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67.664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Thursday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67.664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77149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Friday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65.9057971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Friday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65.9057971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0834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Saturday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46.6746988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Saturday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46.6746988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5532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49.51829268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49.51829268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9737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(blank)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2062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58.304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867971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871C63-18F6-EAB2-3D26-8246095BB1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062638"/>
              </p:ext>
            </p:extLst>
          </p:nvPr>
        </p:nvGraphicFramePr>
        <p:xfrm>
          <a:off x="4702175" y="1535906"/>
          <a:ext cx="5991225" cy="2528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E40A042-60B1-A9AB-9324-05C86959BA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3263183"/>
              </p:ext>
            </p:extLst>
          </p:nvPr>
        </p:nvGraphicFramePr>
        <p:xfrm>
          <a:off x="5232400" y="395049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49057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6830-2F8C-9AE5-69D9-02A54D76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Rentals By Season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3F9278-AC0B-F541-1FE5-55A4DE95E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620838"/>
              </p:ext>
            </p:extLst>
          </p:nvPr>
        </p:nvGraphicFramePr>
        <p:xfrm>
          <a:off x="838200" y="2133600"/>
          <a:ext cx="3276600" cy="1588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2151">
                  <a:extLst>
                    <a:ext uri="{9D8B030D-6E8A-4147-A177-3AD203B41FA5}">
                      <a16:colId xmlns:a16="http://schemas.microsoft.com/office/drawing/2014/main" val="3551313753"/>
                    </a:ext>
                  </a:extLst>
                </a:gridCol>
                <a:gridCol w="1684449">
                  <a:extLst>
                    <a:ext uri="{9D8B030D-6E8A-4147-A177-3AD203B41FA5}">
                      <a16:colId xmlns:a16="http://schemas.microsoft.com/office/drawing/2014/main" val="3165483774"/>
                    </a:ext>
                  </a:extLst>
                </a:gridCol>
              </a:tblGrid>
              <a:tr h="39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Season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cnt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6914177"/>
                  </a:ext>
                </a:extLst>
              </a:tr>
              <a:tr h="39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Spring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58.304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9279233"/>
                  </a:ext>
                </a:extLst>
              </a:tr>
              <a:tr h="39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(blank)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6008643"/>
                  </a:ext>
                </a:extLst>
              </a:tr>
              <a:tr h="397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58.304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3259557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96686C4-7709-4F18-7C4B-682484BDB0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143339"/>
              </p:ext>
            </p:extLst>
          </p:nvPr>
        </p:nvGraphicFramePr>
        <p:xfrm>
          <a:off x="48387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550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6B40-7699-1017-2FD6-D40EF726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Daily_TimeSeries</a:t>
            </a:r>
            <a:r>
              <a:rPr lang="en-IN" dirty="0"/>
              <a:t> (Forecast)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292623-73A2-F7F6-1E26-EB1805782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288196"/>
              </p:ext>
            </p:extLst>
          </p:nvPr>
        </p:nvGraphicFramePr>
        <p:xfrm>
          <a:off x="838200" y="1952621"/>
          <a:ext cx="993335" cy="43513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692">
                  <a:extLst>
                    <a:ext uri="{9D8B030D-6E8A-4147-A177-3AD203B41FA5}">
                      <a16:colId xmlns:a16="http://schemas.microsoft.com/office/drawing/2014/main" val="1623348976"/>
                    </a:ext>
                  </a:extLst>
                </a:gridCol>
                <a:gridCol w="473643">
                  <a:extLst>
                    <a:ext uri="{9D8B030D-6E8A-4147-A177-3AD203B41FA5}">
                      <a16:colId xmlns:a16="http://schemas.microsoft.com/office/drawing/2014/main" val="2859385343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dteday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Sum of cnt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8952511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01-01-2011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985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11745093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02-01-2011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801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94240892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03-01-2011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1349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74089585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04-01-2011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1562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38661382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05-01-2011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1600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9867359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06-01-2011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1606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26695625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07-01-2011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1510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39361404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08-01-2011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959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0738768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09-01-2011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822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74105520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10-01-2011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1321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42555964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11-01-2011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1263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82334961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12-01-2011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1162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66503603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13-01-2011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1406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7492476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14-01-2011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1421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2591783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15-01-2011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1248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8711906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16-01-2011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1204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45050491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17-01-2011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1000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55871526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18-01-2011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683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75337416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19-01-2011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1650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52037373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20-01-2011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1927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77306766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21-01-2011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1543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3057126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22-01-2011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981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594561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23-01-2011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986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49673956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24-01-2011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1416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550306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25-01-2011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1985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419947839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26-01-2011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506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96367322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27-01-2011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431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288048540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28-01-2011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1167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389101818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29-01-2011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1098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5513725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30-01-2011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1096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1435163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31-01-2011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1501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410102213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Grand Total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38189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5657991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0E71AD-1224-E310-739C-80BA5C23E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05157"/>
              </p:ext>
            </p:extLst>
          </p:nvPr>
        </p:nvGraphicFramePr>
        <p:xfrm>
          <a:off x="2243138" y="1952621"/>
          <a:ext cx="3055939" cy="4351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72">
                  <a:extLst>
                    <a:ext uri="{9D8B030D-6E8A-4147-A177-3AD203B41FA5}">
                      <a16:colId xmlns:a16="http://schemas.microsoft.com/office/drawing/2014/main" val="2198704379"/>
                    </a:ext>
                  </a:extLst>
                </a:gridCol>
                <a:gridCol w="326217">
                  <a:extLst>
                    <a:ext uri="{9D8B030D-6E8A-4147-A177-3AD203B41FA5}">
                      <a16:colId xmlns:a16="http://schemas.microsoft.com/office/drawing/2014/main" val="652641083"/>
                    </a:ext>
                  </a:extLst>
                </a:gridCol>
                <a:gridCol w="559943">
                  <a:extLst>
                    <a:ext uri="{9D8B030D-6E8A-4147-A177-3AD203B41FA5}">
                      <a16:colId xmlns:a16="http://schemas.microsoft.com/office/drawing/2014/main" val="3335327280"/>
                    </a:ext>
                  </a:extLst>
                </a:gridCol>
                <a:gridCol w="944904">
                  <a:extLst>
                    <a:ext uri="{9D8B030D-6E8A-4147-A177-3AD203B41FA5}">
                      <a16:colId xmlns:a16="http://schemas.microsoft.com/office/drawing/2014/main" val="1694471011"/>
                    </a:ext>
                  </a:extLst>
                </a:gridCol>
                <a:gridCol w="949903">
                  <a:extLst>
                    <a:ext uri="{9D8B030D-6E8A-4147-A177-3AD203B41FA5}">
                      <a16:colId xmlns:a16="http://schemas.microsoft.com/office/drawing/2014/main" val="1048105110"/>
                    </a:ext>
                  </a:extLst>
                </a:gridCol>
              </a:tblGrid>
              <a:tr h="75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dteday</a:t>
                      </a:r>
                      <a:endParaRPr lang="en-IN" sz="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Sum of cnt</a:t>
                      </a:r>
                      <a:endParaRPr lang="en-IN" sz="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Forecast(Sum of cnt)</a:t>
                      </a:r>
                      <a:endParaRPr lang="en-IN" sz="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Lower Confidence Bound(Sum of cnt)</a:t>
                      </a:r>
                      <a:endParaRPr lang="en-US" sz="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Upper Confidence Bound(Sum of cnt)</a:t>
                      </a:r>
                      <a:endParaRPr lang="en-US" sz="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8962462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01-01-2011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985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83333413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02-01-2011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801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646310182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03-01-2011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1349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78611697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04-01-2011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1562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792758952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05-01-2011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1600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48165363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06-01-2011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1606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418792616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07-01-2011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1510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81282047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08-01-2011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959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59284813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09-01-2011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822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602630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1321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55099135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11-01-2011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1263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407750234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12-01-2011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1162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1436062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1406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69895560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1421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5387991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1248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35414861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1204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6191133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17-01-2011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1000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05143562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18-01-2011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683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92078808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19-01-2011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1650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089779147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20-01-2011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1927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87055204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21-01-2011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1543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7366672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981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57340733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23-01-2011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986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08543116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24-01-2011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1416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12229815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25-01-2011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1985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20495214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26-01-2011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506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9954447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27-01-2011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431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10565020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28-01-2011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1167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3157570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29-01-2011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1098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70519361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30-01-2011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1096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54005262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31-01-2011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1501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89021343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01-02-2011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1360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46326916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02-02-2011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1526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45710708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03-02-2011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1550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010887924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04-02-2011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1708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53052879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05-02-2011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1005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40202987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06-02-2011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1623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071112267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07-02-2011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1712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701802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08-02-2011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1530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563623922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09-02-2011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1605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0109566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10-02-2011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1538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93229350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11-02-2011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1746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43189401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12-02-2011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1472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6390546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1589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07261840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151.00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151.00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06252634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15-02-2011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1387.216744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585.51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2188.93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687242225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16-02-2011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1392.559775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586.77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2198.35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37357975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17-02-2011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1397.902805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587.97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2207.83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26195592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18-02-2011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1403.245836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589.12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2217.37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583131774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19-02-2011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1408.588866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590.20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2226.97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944854329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20-02-2011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1413.931896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591.23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2236.64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101648200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21-02-2011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1419.274927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592.19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2246.36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3576768843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1424.617957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593.10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2256.14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10732082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23-02-2011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1429.960988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593.95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2265.97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255471627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24-02-2011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1435.304018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594.74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2275.87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882311888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25-02-2011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1440.647049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595.46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2285.83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864068016"/>
                  </a:ext>
                </a:extLst>
              </a:tr>
              <a:tr h="750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26-02-2011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1445.990079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>
                          <a:effectLst/>
                        </a:rPr>
                        <a:t>596.14</a:t>
                      </a:r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u="none" strike="noStrike" dirty="0">
                          <a:effectLst/>
                        </a:rPr>
                        <a:t>2295.84</a:t>
                      </a:r>
                      <a:endParaRPr lang="en-IN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/>
                </a:tc>
                <a:extLst>
                  <a:ext uri="{0D108BD9-81ED-4DB2-BD59-A6C34878D82A}">
                    <a16:rowId xmlns:a16="http://schemas.microsoft.com/office/drawing/2014/main" val="1660562451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442B5E-FD7C-450E-224A-C720A12810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7631603"/>
              </p:ext>
            </p:extLst>
          </p:nvPr>
        </p:nvGraphicFramePr>
        <p:xfrm>
          <a:off x="5299077" y="2051050"/>
          <a:ext cx="61341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297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A9FE-3842-4518-2A74-F96BC6E6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Rentals By Weather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1EA4C0-E3A2-2B09-03D5-C5D69DF99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436272"/>
              </p:ext>
            </p:extLst>
          </p:nvPr>
        </p:nvGraphicFramePr>
        <p:xfrm>
          <a:off x="838200" y="2126855"/>
          <a:ext cx="3638550" cy="2604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7107">
                  <a:extLst>
                    <a:ext uri="{9D8B030D-6E8A-4147-A177-3AD203B41FA5}">
                      <a16:colId xmlns:a16="http://schemas.microsoft.com/office/drawing/2014/main" val="4100784498"/>
                    </a:ext>
                  </a:extLst>
                </a:gridCol>
                <a:gridCol w="1451443">
                  <a:extLst>
                    <a:ext uri="{9D8B030D-6E8A-4147-A177-3AD203B41FA5}">
                      <a16:colId xmlns:a16="http://schemas.microsoft.com/office/drawing/2014/main" val="2364528934"/>
                    </a:ext>
                  </a:extLst>
                </a:gridCol>
              </a:tblGrid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Weathersit_name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cnt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0413455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58.31961259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7641437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Clear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58.31961259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8046821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55.42222222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926641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Mist/Cloudy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55.42222222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734613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32.59183673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1820885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Light Rain/Snow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32.59183673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425748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023206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Heavy Rain/Storm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2891680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55.50726744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883386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9BF16C2-E8FF-16E3-6D66-ECBB973BC3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676241"/>
              </p:ext>
            </p:extLst>
          </p:nvPr>
        </p:nvGraphicFramePr>
        <p:xfrm>
          <a:off x="5429252" y="21268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7368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03B-C8B6-E801-B415-2ADB6819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User(</a:t>
            </a:r>
            <a:r>
              <a:rPr lang="en-US" dirty="0" err="1"/>
              <a:t>Casual+Registered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9ABCC9-ABBC-678E-8457-32AD6EE91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8830626"/>
              </p:ext>
            </p:extLst>
          </p:nvPr>
        </p:nvGraphicFramePr>
        <p:xfrm>
          <a:off x="838200" y="2103438"/>
          <a:ext cx="3568700" cy="1325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92140045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7270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39886817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4814922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Row Labels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casual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registered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cnt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4911899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Spring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35116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38189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058970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3073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35116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38189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0076024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6FDF8A5-49F9-8863-6D6E-985994BC2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1111910"/>
              </p:ext>
            </p:extLst>
          </p:nvPr>
        </p:nvGraphicFramePr>
        <p:xfrm>
          <a:off x="5384800" y="210343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540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8D36-8D32-6252-4B60-444C36F9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Slicers and Timeline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C7CFF6-64BC-D8D2-578C-B73E8F5CF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124391"/>
              </p:ext>
            </p:extLst>
          </p:nvPr>
        </p:nvGraphicFramePr>
        <p:xfrm>
          <a:off x="838200" y="2141541"/>
          <a:ext cx="3157509" cy="4351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254">
                  <a:extLst>
                    <a:ext uri="{9D8B030D-6E8A-4147-A177-3AD203B41FA5}">
                      <a16:colId xmlns:a16="http://schemas.microsoft.com/office/drawing/2014/main" val="2861560667"/>
                    </a:ext>
                  </a:extLst>
                </a:gridCol>
                <a:gridCol w="769173">
                  <a:extLst>
                    <a:ext uri="{9D8B030D-6E8A-4147-A177-3AD203B41FA5}">
                      <a16:colId xmlns:a16="http://schemas.microsoft.com/office/drawing/2014/main" val="2748287380"/>
                    </a:ext>
                  </a:extLst>
                </a:gridCol>
                <a:gridCol w="992121">
                  <a:extLst>
                    <a:ext uri="{9D8B030D-6E8A-4147-A177-3AD203B41FA5}">
                      <a16:colId xmlns:a16="http://schemas.microsoft.com/office/drawing/2014/main" val="2311277331"/>
                    </a:ext>
                  </a:extLst>
                </a:gridCol>
                <a:gridCol w="601961">
                  <a:extLst>
                    <a:ext uri="{9D8B030D-6E8A-4147-A177-3AD203B41FA5}">
                      <a16:colId xmlns:a16="http://schemas.microsoft.com/office/drawing/2014/main" val="1813346530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Hour of Day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Sum of casual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Sum of registered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Sum of cnt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16596930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356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397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09802420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268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69771450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166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57869568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66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410338267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65683978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46141268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385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397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07020671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1132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1163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401382973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2742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2812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32528733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1851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1937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87274385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1140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1248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40541452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211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1176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1387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98967000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255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1600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1855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92111065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274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1622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1896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68277902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245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1548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1793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83077595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284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1612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1896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457442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278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1930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2208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57916138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3077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3277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47170136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123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2644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2767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291138792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119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1925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2044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130462053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1361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1439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75820174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60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961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1021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81612415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768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825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9795632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524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579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301804126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Grand Total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2667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28935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31602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68" marR="8368" marT="8368" marB="0" anchor="b"/>
                </a:tc>
                <a:extLst>
                  <a:ext uri="{0D108BD9-81ED-4DB2-BD59-A6C34878D82A}">
                    <a16:rowId xmlns:a16="http://schemas.microsoft.com/office/drawing/2014/main" val="890679367"/>
                  </a:ext>
                </a:extLst>
              </a:tr>
            </a:tbl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034AC7ED-E426-47B3-5810-EFB5755B0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0400" y="2166937"/>
            <a:ext cx="1828800" cy="25241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85D780-D698-849A-A0E1-AFAB31E66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7493" y="2166937"/>
            <a:ext cx="1828800" cy="25241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FA157D4-46F3-3A44-9946-37CA94283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4586" y="2166937"/>
            <a:ext cx="3343275" cy="138112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C8BBF84-10C9-E58D-3394-A83D94A4AA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4586" y="3741737"/>
            <a:ext cx="18288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82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C67B-16AC-DDC7-5F38-4C2C6477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00BB3B-8BEF-1620-2DA9-A901F6CFD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937494"/>
              </p:ext>
            </p:extLst>
          </p:nvPr>
        </p:nvGraphicFramePr>
        <p:xfrm>
          <a:off x="0" y="467364"/>
          <a:ext cx="8745888" cy="3883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412">
                  <a:extLst>
                    <a:ext uri="{9D8B030D-6E8A-4147-A177-3AD203B41FA5}">
                      <a16:colId xmlns:a16="http://schemas.microsoft.com/office/drawing/2014/main" val="645603097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598557917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4037557295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445903058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32409539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42120204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398565281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3754180486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676741526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193351975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44048307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824790427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27557420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687225341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113843678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938747864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36022844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13432350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216583422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469216153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462173300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466666502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3770304853"/>
                    </a:ext>
                  </a:extLst>
                </a:gridCol>
                <a:gridCol w="364412">
                  <a:extLst>
                    <a:ext uri="{9D8B030D-6E8A-4147-A177-3AD203B41FA5}">
                      <a16:colId xmlns:a16="http://schemas.microsoft.com/office/drawing/2014/main" val="2300253403"/>
                    </a:ext>
                  </a:extLst>
                </a:gridCol>
              </a:tblGrid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41879104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8153690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091977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48452908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71368657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42941350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5039243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99795229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4431500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15089892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8020628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7522664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61253030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07914024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71134612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93433418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15805530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63716555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08412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7768614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698095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3485199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88219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94988799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7175247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26453005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0620153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72649058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3654609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5009737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3002674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0582862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51969736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8942222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81866761"/>
                  </a:ext>
                </a:extLst>
              </a:tr>
              <a:tr h="107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 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 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8731766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BFB158-485D-1487-9D5A-39CE3EFBFAAB}"/>
              </a:ext>
            </a:extLst>
          </p:cNvPr>
          <p:cNvSpPr/>
          <p:nvPr/>
        </p:nvSpPr>
        <p:spPr>
          <a:xfrm>
            <a:off x="0" y="12488"/>
            <a:ext cx="12125325" cy="765175"/>
          </a:xfrm>
          <a:prstGeom prst="roundRect">
            <a:avLst>
              <a:gd name="adj" fmla="val 5556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600"/>
              <a:t>Bike Sharing Demand Analysis Dashboard</a:t>
            </a:r>
            <a:r>
              <a:rPr lang="en-IN" sz="2400" baseline="0"/>
              <a:t>			 </a:t>
            </a:r>
            <a:endParaRPr lang="en-IN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D5C5E5-8D2C-FD2D-2A20-FDBC8AE6E5D8}"/>
              </a:ext>
            </a:extLst>
          </p:cNvPr>
          <p:cNvSpPr/>
          <p:nvPr/>
        </p:nvSpPr>
        <p:spPr>
          <a:xfrm>
            <a:off x="-38665" y="777663"/>
            <a:ext cx="906569" cy="820742"/>
          </a:xfrm>
          <a:prstGeom prst="roundRect">
            <a:avLst>
              <a:gd name="adj" fmla="val 78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pic>
        <p:nvPicPr>
          <p:cNvPr id="7" name="Graphic 4" descr="Motorcycle">
            <a:extLst>
              <a:ext uri="{FF2B5EF4-FFF2-40B4-BE49-F238E27FC236}">
                <a16:creationId xmlns:a16="http://schemas.microsoft.com/office/drawing/2014/main" id="{A6F98143-9DF9-AC05-331A-C260EC3FB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73707" y="570281"/>
            <a:ext cx="1120408" cy="112040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D3F558-812C-BC46-EA18-7A64E8CE9D79}"/>
              </a:ext>
            </a:extLst>
          </p:cNvPr>
          <p:cNvSpPr/>
          <p:nvPr/>
        </p:nvSpPr>
        <p:spPr>
          <a:xfrm>
            <a:off x="890660" y="791135"/>
            <a:ext cx="2967409" cy="2448560"/>
          </a:xfrm>
          <a:prstGeom prst="roundRect">
            <a:avLst>
              <a:gd name="adj" fmla="val 65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915901-9BE0-4A38-871F-89DF3647C33B}"/>
              </a:ext>
            </a:extLst>
          </p:cNvPr>
          <p:cNvSpPr/>
          <p:nvPr/>
        </p:nvSpPr>
        <p:spPr>
          <a:xfrm>
            <a:off x="3904440" y="782339"/>
            <a:ext cx="2907582" cy="2448560"/>
          </a:xfrm>
          <a:prstGeom prst="roundRect">
            <a:avLst>
              <a:gd name="adj" fmla="val 62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9DC8FB-5590-4345-9F0A-CBC9513524BE}"/>
              </a:ext>
            </a:extLst>
          </p:cNvPr>
          <p:cNvSpPr/>
          <p:nvPr/>
        </p:nvSpPr>
        <p:spPr>
          <a:xfrm>
            <a:off x="6861807" y="791135"/>
            <a:ext cx="2774741" cy="2448560"/>
          </a:xfrm>
          <a:prstGeom prst="roundRect">
            <a:avLst>
              <a:gd name="adj" fmla="val 48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D96181-7C5E-4D04-8A77-9D3EC36A3F95}"/>
              </a:ext>
            </a:extLst>
          </p:cNvPr>
          <p:cNvSpPr/>
          <p:nvPr/>
        </p:nvSpPr>
        <p:spPr>
          <a:xfrm>
            <a:off x="9655913" y="798611"/>
            <a:ext cx="2536087" cy="2432288"/>
          </a:xfrm>
          <a:prstGeom prst="roundRect">
            <a:avLst>
              <a:gd name="adj" fmla="val 48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2F56BF-3DA4-23F3-726A-7E29B41C82E9}"/>
              </a:ext>
            </a:extLst>
          </p:cNvPr>
          <p:cNvSpPr/>
          <p:nvPr/>
        </p:nvSpPr>
        <p:spPr>
          <a:xfrm>
            <a:off x="8871988" y="148325"/>
            <a:ext cx="3033219" cy="433599"/>
          </a:xfrm>
          <a:prstGeom prst="roundRect">
            <a:avLst>
              <a:gd name="adj" fmla="val 68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/>
              <a:t>Total User :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2B8D5D-9E52-DFEA-4BA5-407794E8C0A2}"/>
              </a:ext>
            </a:extLst>
          </p:cNvPr>
          <p:cNvSpPr/>
          <p:nvPr/>
        </p:nvSpPr>
        <p:spPr>
          <a:xfrm>
            <a:off x="10502309" y="257969"/>
            <a:ext cx="1193545" cy="255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43608E-DFF0-441B-8D14-7198D2034B44}" type="TxLink">
              <a:rPr lang="en-US" sz="1800" b="0" i="0" u="none" strike="noStrike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pPr algn="ctr"/>
              <a:t>38189</a:t>
            </a:fld>
            <a:endParaRPr lang="en-US" sz="1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189EC00-7182-4CB4-82B4-F24A9D1185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222730"/>
              </p:ext>
            </p:extLst>
          </p:nvPr>
        </p:nvGraphicFramePr>
        <p:xfrm>
          <a:off x="969457" y="1489834"/>
          <a:ext cx="2844764" cy="151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6780C5-46E7-FF7C-4CCE-09DFA86682FA}"/>
              </a:ext>
            </a:extLst>
          </p:cNvPr>
          <p:cNvSpPr/>
          <p:nvPr/>
        </p:nvSpPr>
        <p:spPr>
          <a:xfrm>
            <a:off x="1284752" y="945109"/>
            <a:ext cx="2360167" cy="289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dirty="0" err="1"/>
              <a:t>Avearge</a:t>
            </a:r>
            <a:r>
              <a:rPr lang="en-IN" sz="1400" dirty="0"/>
              <a:t> Rentals By Hour</a:t>
            </a:r>
            <a:endParaRPr lang="en-IN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42F4F7-DBDD-4FC7-A688-3818346BFB96}"/>
              </a:ext>
            </a:extLst>
          </p:cNvPr>
          <p:cNvSpPr/>
          <p:nvPr/>
        </p:nvSpPr>
        <p:spPr>
          <a:xfrm>
            <a:off x="4153344" y="976014"/>
            <a:ext cx="2360167" cy="289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dirty="0" err="1"/>
              <a:t>Avearge</a:t>
            </a:r>
            <a:r>
              <a:rPr lang="en-IN" sz="1400" dirty="0"/>
              <a:t> Rentals By Weekday</a:t>
            </a:r>
            <a:endParaRPr lang="en-IN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E9DFFB-E53F-4DB5-9BDE-F0E7D1C40FED}"/>
              </a:ext>
            </a:extLst>
          </p:cNvPr>
          <p:cNvSpPr/>
          <p:nvPr/>
        </p:nvSpPr>
        <p:spPr>
          <a:xfrm>
            <a:off x="7021344" y="898911"/>
            <a:ext cx="2360167" cy="289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/>
              <a:t>Avearge Rentals By Season</a:t>
            </a:r>
            <a:endParaRPr lang="en-IN" sz="16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8C9FA7-8554-478C-B099-F2F6DB117E98}"/>
              </a:ext>
            </a:extLst>
          </p:cNvPr>
          <p:cNvSpPr/>
          <p:nvPr/>
        </p:nvSpPr>
        <p:spPr>
          <a:xfrm>
            <a:off x="9686333" y="894904"/>
            <a:ext cx="2360167" cy="289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200" dirty="0" err="1"/>
              <a:t>Avearge</a:t>
            </a:r>
            <a:r>
              <a:rPr lang="en-IN" sz="1200" dirty="0"/>
              <a:t> Rentals By </a:t>
            </a:r>
            <a:r>
              <a:rPr lang="en-IN" sz="1200" dirty="0" err="1"/>
              <a:t>Weathersit</a:t>
            </a:r>
            <a:endParaRPr lang="en-I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EE27D96-5489-4231-AF65-C59E3398C1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112291"/>
              </p:ext>
            </p:extLst>
          </p:nvPr>
        </p:nvGraphicFramePr>
        <p:xfrm>
          <a:off x="6950800" y="1403283"/>
          <a:ext cx="2629388" cy="1742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4B14034F-B277-4D27-98BC-C1006AD4A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522516"/>
              </p:ext>
            </p:extLst>
          </p:nvPr>
        </p:nvGraphicFramePr>
        <p:xfrm>
          <a:off x="9686333" y="1348020"/>
          <a:ext cx="2360167" cy="1853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84B5EA-90FC-C371-9688-512B631D18DF}"/>
              </a:ext>
            </a:extLst>
          </p:cNvPr>
          <p:cNvSpPr/>
          <p:nvPr/>
        </p:nvSpPr>
        <p:spPr>
          <a:xfrm>
            <a:off x="-24941" y="3335950"/>
            <a:ext cx="2970400" cy="2542081"/>
          </a:xfrm>
          <a:prstGeom prst="roundRect">
            <a:avLst>
              <a:gd name="adj" fmla="val 39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D722070E-A08A-A7F0-3862-A001618E0AA7}"/>
              </a:ext>
            </a:extLst>
          </p:cNvPr>
          <p:cNvSpPr txBox="1"/>
          <p:nvPr/>
        </p:nvSpPr>
        <p:spPr>
          <a:xfrm>
            <a:off x="145565" y="3499026"/>
            <a:ext cx="2629388" cy="3910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>
                <a:solidFill>
                  <a:schemeClr val="accent5">
                    <a:lumMod val="20000"/>
                    <a:lumOff val="80000"/>
                  </a:schemeClr>
                </a:solidFill>
              </a:rPr>
              <a:t>Total Causal and</a:t>
            </a:r>
            <a:r>
              <a:rPr lang="en-IN" sz="1800" baseline="0">
                <a:solidFill>
                  <a:schemeClr val="accent5">
                    <a:lumMod val="20000"/>
                    <a:lumOff val="80000"/>
                  </a:schemeClr>
                </a:solidFill>
              </a:rPr>
              <a:t> Registered User</a:t>
            </a:r>
            <a:endParaRPr lang="en-IN" sz="180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818AA810-7C56-4798-B0EC-89E02A3A76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950257"/>
              </p:ext>
            </p:extLst>
          </p:nvPr>
        </p:nvGraphicFramePr>
        <p:xfrm>
          <a:off x="161723" y="4102663"/>
          <a:ext cx="2467855" cy="1700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13E3F4-C1A8-BB53-5CE0-A9FD4137B868}"/>
              </a:ext>
            </a:extLst>
          </p:cNvPr>
          <p:cNvSpPr/>
          <p:nvPr/>
        </p:nvSpPr>
        <p:spPr>
          <a:xfrm>
            <a:off x="6972572" y="3370438"/>
            <a:ext cx="5052373" cy="2533579"/>
          </a:xfrm>
          <a:prstGeom prst="roundRect">
            <a:avLst>
              <a:gd name="adj" fmla="val 25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198D8A5-8E02-061A-B19A-37970ECB7C74}"/>
              </a:ext>
            </a:extLst>
          </p:cNvPr>
          <p:cNvSpPr/>
          <p:nvPr/>
        </p:nvSpPr>
        <p:spPr>
          <a:xfrm>
            <a:off x="7036338" y="3518433"/>
            <a:ext cx="2081972" cy="3230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dirty="0"/>
              <a:t>Filter Panel</a:t>
            </a:r>
          </a:p>
        </p:txBody>
      </p:sp>
      <p:pic>
        <p:nvPicPr>
          <p:cNvPr id="26" name="table">
            <a:extLst>
              <a:ext uri="{FF2B5EF4-FFF2-40B4-BE49-F238E27FC236}">
                <a16:creationId xmlns:a16="http://schemas.microsoft.com/office/drawing/2014/main" id="{9709E914-4D88-62BF-1279-CF2A284331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572" y="3906408"/>
            <a:ext cx="2081972" cy="2019154"/>
          </a:xfrm>
          <a:prstGeom prst="rect">
            <a:avLst/>
          </a:prstGeom>
        </p:spPr>
      </p:pic>
      <p:pic>
        <p:nvPicPr>
          <p:cNvPr id="27" name="table">
            <a:extLst>
              <a:ext uri="{FF2B5EF4-FFF2-40B4-BE49-F238E27FC236}">
                <a16:creationId xmlns:a16="http://schemas.microsoft.com/office/drawing/2014/main" id="{4068C67C-9586-10F8-DCE9-0D7D187659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6216" y="3446149"/>
            <a:ext cx="2629388" cy="1238415"/>
          </a:xfrm>
          <a:prstGeom prst="rect">
            <a:avLst/>
          </a:prstGeom>
        </p:spPr>
      </p:pic>
      <p:pic>
        <p:nvPicPr>
          <p:cNvPr id="28" name="table">
            <a:extLst>
              <a:ext uri="{FF2B5EF4-FFF2-40B4-BE49-F238E27FC236}">
                <a16:creationId xmlns:a16="http://schemas.microsoft.com/office/drawing/2014/main" id="{FA50BB42-4C7F-9B21-673F-A220BA3E65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6216" y="4637227"/>
            <a:ext cx="2638362" cy="1292259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A1AF9EB-AD58-4933-B76D-D849351DC684}"/>
              </a:ext>
            </a:extLst>
          </p:cNvPr>
          <p:cNvSpPr/>
          <p:nvPr/>
        </p:nvSpPr>
        <p:spPr>
          <a:xfrm>
            <a:off x="3114676" y="3357540"/>
            <a:ext cx="3724218" cy="2542081"/>
          </a:xfrm>
          <a:prstGeom prst="roundRect">
            <a:avLst>
              <a:gd name="adj" fmla="val 22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631FF064-400B-4CA5-B4FE-1470C1E29A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1507043"/>
              </p:ext>
            </p:extLst>
          </p:nvPr>
        </p:nvGraphicFramePr>
        <p:xfrm>
          <a:off x="3216163" y="3906408"/>
          <a:ext cx="3392179" cy="1946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BBE9B48-4963-9CA2-CFB1-EB212BEC7222}"/>
              </a:ext>
            </a:extLst>
          </p:cNvPr>
          <p:cNvSpPr txBox="1"/>
          <p:nvPr/>
        </p:nvSpPr>
        <p:spPr>
          <a:xfrm>
            <a:off x="3508849" y="3574462"/>
            <a:ext cx="3078089" cy="2210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>
                <a:solidFill>
                  <a:schemeClr val="bg2"/>
                </a:solidFill>
              </a:rPr>
              <a:t>Daily Time Series Forecast</a:t>
            </a: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13926EEB-D615-4A13-ADC5-895D2A62F7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5189443"/>
              </p:ext>
            </p:extLst>
          </p:nvPr>
        </p:nvGraphicFramePr>
        <p:xfrm>
          <a:off x="3987928" y="1391976"/>
          <a:ext cx="2701180" cy="1785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386521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85B7-E3F2-BA38-AC4F-6A6182078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6457"/>
            <a:ext cx="10515600" cy="3680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/>
              <a:t>Thank You !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33414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1647</Words>
  <Application>Microsoft Office PowerPoint</Application>
  <PresentationFormat>Widescreen</PresentationFormat>
  <Paragraphs>1342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NextHikes Solution Bike Sharing Demand Analysis Project Using Excel</vt:lpstr>
      <vt:lpstr>Project Overview</vt:lpstr>
      <vt:lpstr>Data Loading &amp; Cleaning With Exploratory Analysis </vt:lpstr>
      <vt:lpstr>PowerPoint Presentation</vt:lpstr>
      <vt:lpstr>Average Rentals By Weekday</vt:lpstr>
      <vt:lpstr>Average Rentals By Season</vt:lpstr>
      <vt:lpstr>Daily_TimeSeries (Forecast)</vt:lpstr>
      <vt:lpstr>Average Rentals By Weather</vt:lpstr>
      <vt:lpstr>Total User(Casual+Registered)</vt:lpstr>
      <vt:lpstr>Slicers and Timeline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Kothari</dc:creator>
  <cp:lastModifiedBy>Priyanka Kothari</cp:lastModifiedBy>
  <cp:revision>4</cp:revision>
  <dcterms:created xsi:type="dcterms:W3CDTF">2025-11-01T15:23:13Z</dcterms:created>
  <dcterms:modified xsi:type="dcterms:W3CDTF">2025-11-01T17:03:52Z</dcterms:modified>
</cp:coreProperties>
</file>